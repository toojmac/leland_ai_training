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colors1.xml" ContentType="application/vnd.ms-office.chartcolorstyle+xml"/>
  <Override PartName="/ppt/charts/style2.xml" ContentType="application/vnd.ms-office.chartstyle+xml"/>
  <Override PartName="/ppt/charts/chart3.xml" ContentType="application/vnd.openxmlformats-officedocument.drawingml.chart+xml"/>
  <Override PartName="/ppt/charts/chart2.xml" ContentType="application/vnd.openxmlformats-officedocument.drawingml.chart+xml"/>
  <Override PartName="/ppt/charts/colors2.xml" ContentType="application/vnd.ms-office.chartcolorstyle+xml"/>
  <Override PartName="/ppt/charts/style3.xml" ContentType="application/vnd.ms-office.chartstyle+xml"/>
  <Override PartName="/ppt/charts/style1.xml" ContentType="application/vnd.ms-office.chartstyle+xml"/>
  <Override PartName="/ppt/charts/colors3.xml" ContentType="application/vnd.ms-office.chartcolorstyl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_rels/chart2.xml.rels><?xml version="1.0" encoding="UTF-8"?>
<Relationships xmlns="http://schemas.openxmlformats.org/package/2006/relationships"><Relationship Id="rId1" Type="http://schemas.microsoft.com/office/2011/relationships/chartStyle" Target="style2.xml"/><Relationship Id="rId2" Type="http://schemas.microsoft.com/office/2011/relationships/chartColorStyle" Target="colors2.xml"/>
</Relationships>
</file>

<file path=ppt/charts/_rels/chart3.xml.rels><?xml version="1.0" encoding="UTF-8"?>
<Relationships xmlns="http://schemas.openxmlformats.org/package/2006/relationships"><Relationship Id="rId1" Type="http://schemas.microsoft.com/office/2011/relationships/chartStyle" Target="style3.xml"/><Relationship Id="rId2" Type="http://schemas.microsoft.com/office/2011/relationships/chartColorStyle" Target="colors3.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Median Debt ($)</c:v>
                </c:pt>
              </c:strCache>
            </c:strRef>
          </c:tx>
          <c:spPr>
            <a:solidFill>
              <a:srgbClr val="C00000"/>
            </a:solidFill>
            <a:ln w="0">
              <a:noFill/>
            </a:ln>
          </c:spPr>
          <c:invertIfNegative val="0"/>
          <c:dLbls>
            <c:numFmt formatCode="\$#,##0" sourceLinked="0"/>
            <c:txPr>
              <a:bodyPr wrap="square"/>
              <a:lstStyle/>
              <a:p>
                <a:pPr>
                  <a:defRPr sz="1100" b="0" u="none" strike="noStrike">
                    <a:solidFill>
                      <a:srgbClr val="FFFFFF"/>
                    </a:solidFill>
                    <a:uFillTx/>
                    <a:latin typeface="JetBrains Mono"/>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Harvard</c:v>
                </c:pt>
                <c:pt idx="1">
                  <c:v>Princeton</c:v>
                </c:pt>
                <c:pt idx="2">
                  <c:v>BYU</c:v>
                </c:pt>
              </c:strCache>
            </c:strRef>
          </c:cat>
          <c:val>
            <c:numRef>
              <c:f>0</c:f>
              <c:numCache>
                <c:formatCode>General</c:formatCode>
                <c:ptCount val="3"/>
                <c:pt idx="0">
                  <c:v>14000</c:v>
                </c:pt>
                <c:pt idx="1">
                  <c:v>10320</c:v>
                </c:pt>
                <c:pt idx="2">
                  <c:v>11069</c:v>
                </c:pt>
              </c:numCache>
            </c:numRef>
          </c:val>
        </c:ser>
        <c:ser>
          <c:idx val="1"/>
          <c:order val="1"/>
          <c:tx>
            <c:strRef>
              <c:f>label 1</c:f>
              <c:strCache>
                <c:ptCount val="1"/>
                <c:pt idx="0">
                  <c:v>Median Earnings, 10yr ($)</c:v>
                </c:pt>
              </c:strCache>
            </c:strRef>
          </c:tx>
          <c:spPr>
            <a:solidFill>
              <a:srgbClr val="2E7D32"/>
            </a:solidFill>
            <a:ln w="0">
              <a:noFill/>
            </a:ln>
          </c:spPr>
          <c:invertIfNegative val="0"/>
          <c:dLbls>
            <c:numFmt formatCode="\$#,##0" sourceLinked="0"/>
            <c:txPr>
              <a:bodyPr wrap="square"/>
              <a:lstStyle/>
              <a:p>
                <a:pPr>
                  <a:defRPr sz="1100" b="0" u="none" strike="noStrike">
                    <a:solidFill>
                      <a:srgbClr val="FFFFFF"/>
                    </a:solidFill>
                    <a:uFillTx/>
                    <a:latin typeface="JetBrains Mono"/>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Harvard</c:v>
                </c:pt>
                <c:pt idx="1">
                  <c:v>Princeton</c:v>
                </c:pt>
                <c:pt idx="2">
                  <c:v>BYU</c:v>
                </c:pt>
              </c:strCache>
            </c:strRef>
          </c:cat>
          <c:val>
            <c:numRef>
              <c:f>1</c:f>
              <c:numCache>
                <c:formatCode>General</c:formatCode>
                <c:ptCount val="3"/>
                <c:pt idx="0">
                  <c:v>101817</c:v>
                </c:pt>
                <c:pt idx="1">
                  <c:v>110066</c:v>
                </c:pt>
                <c:pt idx="2">
                  <c:v>75790</c:v>
                </c:pt>
              </c:numCache>
            </c:numRef>
          </c:val>
        </c:ser>
        <c:gapWidth val="40"/>
        <c:overlap val="0"/>
        <c:axId val="60701373"/>
        <c:axId val="14039436"/>
      </c:barChart>
      <c:catAx>
        <c:axId val="60701373"/>
        <c:scaling>
          <c:orientation val="minMax"/>
        </c:scaling>
        <c:delete val="0"/>
        <c:axPos val="b"/>
        <c:numFmt formatCode="General" sourceLinked="0"/>
        <c:majorTickMark val="out"/>
        <c:minorTickMark val="none"/>
        <c:tickLblPos val="low"/>
        <c:spPr>
          <a:ln w="12600">
            <a:solidFill>
              <a:srgbClr val="1A1A1A"/>
            </a:solidFill>
            <a:round/>
          </a:ln>
        </c:spPr>
        <c:txPr>
          <a:bodyPr/>
          <a:lstStyle/>
          <a:p>
            <a:pPr>
              <a:defRPr sz="1300" b="0" u="none" strike="noStrike">
                <a:solidFill>
                  <a:srgbClr val="888888"/>
                </a:solidFill>
                <a:uFillTx/>
                <a:latin typeface="Inter"/>
              </a:defRPr>
            </a:pPr>
          </a:p>
        </c:txPr>
        <c:crossAx val="14039436"/>
        <c:crosses val="autoZero"/>
        <c:auto val="1"/>
        <c:lblAlgn val="ctr"/>
        <c:lblOffset val="100"/>
        <c:noMultiLvlLbl val="0"/>
      </c:catAx>
      <c:valAx>
        <c:axId val="14039436"/>
        <c:scaling>
          <c:orientation val="minMax"/>
        </c:scaling>
        <c:delete val="1"/>
        <c:axPos val="l"/>
        <c:numFmt formatCode="General" sourceLinked="1"/>
        <c:majorTickMark val="out"/>
        <c:minorTickMark val="none"/>
        <c:tickLblPos val="nextTo"/>
        <c:spPr>
          <a:ln w="12600">
            <a:solidFill>
              <a:srgbClr val="888888"/>
            </a:solidFill>
            <a:round/>
          </a:ln>
        </c:spPr>
        <c:txPr>
          <a:bodyPr/>
          <a:lstStyle/>
          <a:p>
            <a:pPr>
              <a:defRPr sz="1200" b="0" u="none" strike="noStrike">
                <a:solidFill>
                  <a:srgbClr val="000000"/>
                </a:solidFill>
                <a:uFillTx/>
                <a:latin typeface="Arial"/>
              </a:defRPr>
            </a:pPr>
          </a:p>
        </c:txPr>
        <c:crossAx val="60701373"/>
        <c:crossBetween val="between"/>
      </c:valAx>
      <c:spPr>
        <a:solidFill>
          <a:srgbClr val="090909"/>
        </a:solidFill>
        <a:ln w="0">
          <a:noFill/>
        </a:ln>
      </c:spPr>
    </c:plotArea>
    <c:legend>
      <c:legendPos val="b"/>
      <c:overlay val="0"/>
      <c:spPr>
        <a:noFill/>
        <a:ln w="0">
          <a:noFill/>
        </a:ln>
      </c:spPr>
      <c:txPr>
        <a:bodyPr/>
        <a:lstStyle/>
        <a:p>
          <a:pPr>
            <a:defRPr sz="1200" b="0" u="none" strike="noStrike">
              <a:solidFill>
                <a:srgbClr val="888888"/>
              </a:solidFill>
              <a:uFillTx/>
              <a:latin typeface="JetBrains Mono"/>
            </a:defRPr>
          </a:pPr>
        </a:p>
      </c:txPr>
    </c:legend>
    <c:plotVisOnly val="1"/>
    <c:dispBlanksAs val="span"/>
  </c:chart>
  <c:spPr>
    <a:solidFill>
      <a:srgbClr val="090909"/>
    </a:solid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Debt-to-Premium Ratio</c:v>
                </c:pt>
              </c:strCache>
            </c:strRef>
          </c:tx>
          <c:spPr>
            <a:solidFill>
              <a:srgbClr val="A51C30"/>
            </a:solidFill>
            <a:ln w="0">
              <a:noFill/>
            </a:ln>
          </c:spPr>
          <c:invertIfNegative val="0"/>
          <c:dPt>
            <c:idx val="0"/>
            <c:invertIfNegative val="0"/>
            <c:spPr>
              <a:solidFill>
                <a:srgbClr val="A51C30"/>
              </a:solidFill>
              <a:ln w="0">
                <a:noFill/>
              </a:ln>
            </c:spPr>
          </c:dPt>
          <c:dPt>
            <c:idx val="1"/>
            <c:invertIfNegative val="0"/>
            <c:spPr>
              <a:solidFill>
                <a:srgbClr val="FF8F00"/>
              </a:solidFill>
              <a:ln w="0">
                <a:noFill/>
              </a:ln>
            </c:spPr>
          </c:dPt>
          <c:dPt>
            <c:idx val="2"/>
            <c:invertIfNegative val="0"/>
            <c:spPr>
              <a:solidFill>
                <a:srgbClr val="002E5D"/>
              </a:solidFill>
              <a:ln w="0">
                <a:noFill/>
              </a:ln>
            </c:spPr>
          </c:dPt>
          <c:dLbls>
            <c:dLbl>
              <c:idx val="0"/>
              <c:numFmt formatCode="0.000" sourceLinked="0"/>
              <c:txPr>
                <a:bodyPr wrap="square"/>
                <a:lstStyle/>
                <a:p>
                  <a:pPr>
                    <a:defRPr sz="1400" b="0" u="none" strike="noStrike">
                      <a:solidFill>
                        <a:srgbClr val="FFFFFF"/>
                      </a:solidFill>
                      <a:uFillTx/>
                      <a:latin typeface="JetBrains Mono"/>
                    </a:defRPr>
                  </a:pPr>
                </a:p>
              </c:txPr>
              <c:dLblPos val="outEnd"/>
              <c:showLegendKey val="0"/>
              <c:showVal val="1"/>
              <c:showCatName val="0"/>
              <c:showSerName val="0"/>
              <c:showPercent val="0"/>
              <c:separator>; </c:separator>
            </c:dLbl>
            <c:dLbl>
              <c:idx val="1"/>
              <c:numFmt formatCode="0.000" sourceLinked="0"/>
              <c:txPr>
                <a:bodyPr wrap="square"/>
                <a:lstStyle/>
                <a:p>
                  <a:pPr>
                    <a:defRPr sz="1400" b="0" u="none" strike="noStrike">
                      <a:solidFill>
                        <a:srgbClr val="FFFFFF"/>
                      </a:solidFill>
                      <a:uFillTx/>
                      <a:latin typeface="JetBrains Mono"/>
                    </a:defRPr>
                  </a:pPr>
                </a:p>
              </c:txPr>
              <c:dLblPos val="outEnd"/>
              <c:showLegendKey val="0"/>
              <c:showVal val="1"/>
              <c:showCatName val="0"/>
              <c:showSerName val="0"/>
              <c:showPercent val="0"/>
              <c:separator>; </c:separator>
            </c:dLbl>
            <c:dLbl>
              <c:idx val="2"/>
              <c:numFmt formatCode="0.000" sourceLinked="0"/>
              <c:txPr>
                <a:bodyPr wrap="square"/>
                <a:lstStyle/>
                <a:p>
                  <a:pPr>
                    <a:defRPr sz="1400" b="0" u="none" strike="noStrike">
                      <a:solidFill>
                        <a:srgbClr val="FFFFFF"/>
                      </a:solidFill>
                      <a:uFillTx/>
                      <a:latin typeface="JetBrains Mono"/>
                    </a:defRPr>
                  </a:pPr>
                </a:p>
              </c:txPr>
              <c:dLblPos val="outEnd"/>
              <c:showLegendKey val="0"/>
              <c:showVal val="1"/>
              <c:showCatName val="0"/>
              <c:showSerName val="0"/>
              <c:showPercent val="0"/>
              <c:separator>; </c:separator>
            </c:dLbl>
            <c:numFmt formatCode="0.000" sourceLinked="0"/>
            <c:txPr>
              <a:bodyPr wrap="square"/>
              <a:lstStyle/>
              <a:p>
                <a:pPr>
                  <a:defRPr sz="1400" b="0" u="none" strike="noStrike">
                    <a:solidFill>
                      <a:srgbClr val="FFFFFF"/>
                    </a:solidFill>
                    <a:uFillTx/>
                    <a:latin typeface="JetBrains Mono"/>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Harvard</c:v>
                </c:pt>
                <c:pt idx="1">
                  <c:v>Princeton</c:v>
                </c:pt>
                <c:pt idx="2">
                  <c:v>BYU</c:v>
                </c:pt>
              </c:strCache>
            </c:strRef>
          </c:cat>
          <c:val>
            <c:numRef>
              <c:f>0</c:f>
              <c:numCache>
                <c:formatCode>General</c:formatCode>
                <c:ptCount val="3"/>
                <c:pt idx="0">
                  <c:v>0.386</c:v>
                </c:pt>
                <c:pt idx="1">
                  <c:v>0.267</c:v>
                </c:pt>
                <c:pt idx="2">
                  <c:v>0.52</c:v>
                </c:pt>
              </c:numCache>
            </c:numRef>
          </c:val>
        </c:ser>
        <c:gapWidth val="50"/>
        <c:overlap val="0"/>
        <c:axId val="52800374"/>
        <c:axId val="34856150"/>
      </c:barChart>
      <c:catAx>
        <c:axId val="52800374"/>
        <c:scaling>
          <c:orientation val="minMax"/>
        </c:scaling>
        <c:delete val="0"/>
        <c:axPos val="b"/>
        <c:numFmt formatCode="General" sourceLinked="0"/>
        <c:majorTickMark val="out"/>
        <c:minorTickMark val="none"/>
        <c:tickLblPos val="low"/>
        <c:spPr>
          <a:ln w="12600">
            <a:solidFill>
              <a:srgbClr val="1A1A1A"/>
            </a:solidFill>
            <a:round/>
          </a:ln>
        </c:spPr>
        <c:txPr>
          <a:bodyPr/>
          <a:lstStyle/>
          <a:p>
            <a:pPr>
              <a:defRPr sz="1400" b="0" u="none" strike="noStrike">
                <a:solidFill>
                  <a:srgbClr val="888888"/>
                </a:solidFill>
                <a:uFillTx/>
                <a:latin typeface="Inter"/>
              </a:defRPr>
            </a:pPr>
          </a:p>
        </c:txPr>
        <c:crossAx val="34856150"/>
        <c:crosses val="autoZero"/>
        <c:auto val="1"/>
        <c:lblAlgn val="ctr"/>
        <c:lblOffset val="100"/>
        <c:noMultiLvlLbl val="0"/>
      </c:catAx>
      <c:valAx>
        <c:axId val="34856150"/>
        <c:scaling>
          <c:orientation val="minMax"/>
          <c:max val="0.8"/>
          <c:min val="0"/>
        </c:scaling>
        <c:delete val="1"/>
        <c:axPos val="l"/>
        <c:numFmt formatCode="General" sourceLinked="1"/>
        <c:majorTickMark val="out"/>
        <c:minorTickMark val="none"/>
        <c:tickLblPos val="nextTo"/>
        <c:spPr>
          <a:ln w="12600">
            <a:solidFill>
              <a:srgbClr val="888888"/>
            </a:solidFill>
            <a:round/>
          </a:ln>
        </c:spPr>
        <c:txPr>
          <a:bodyPr/>
          <a:lstStyle/>
          <a:p>
            <a:pPr>
              <a:defRPr sz="1200" b="0" u="none" strike="noStrike">
                <a:solidFill>
                  <a:srgbClr val="000000"/>
                </a:solidFill>
                <a:uFillTx/>
                <a:latin typeface="Arial"/>
              </a:defRPr>
            </a:pPr>
          </a:p>
        </c:txPr>
        <c:crossAx val="52800374"/>
        <c:crossBetween val="between"/>
      </c:valAx>
      <c:spPr>
        <a:solidFill>
          <a:srgbClr val="0D0D0D"/>
        </a:solidFill>
        <a:ln w="0">
          <a:noFill/>
        </a:ln>
      </c:spPr>
    </c:plotArea>
    <c:plotVisOnly val="1"/>
    <c:dispBlanksAs val="span"/>
  </c:chart>
  <c:spPr>
    <a:solidFill>
      <a:srgbClr val="0D0D0D"/>
    </a:solid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Real Earnings vs. State Baseline (%)</c:v>
                </c:pt>
              </c:strCache>
            </c:strRef>
          </c:tx>
          <c:spPr>
            <a:solidFill>
              <a:srgbClr val="A51C30"/>
            </a:solidFill>
            <a:ln w="0">
              <a:noFill/>
            </a:ln>
          </c:spPr>
          <c:invertIfNegative val="0"/>
          <c:dPt>
            <c:idx val="0"/>
            <c:invertIfNegative val="0"/>
            <c:spPr>
              <a:solidFill>
                <a:srgbClr val="A51C30"/>
              </a:solidFill>
              <a:ln w="0">
                <a:noFill/>
              </a:ln>
            </c:spPr>
          </c:dPt>
          <c:dPt>
            <c:idx val="1"/>
            <c:invertIfNegative val="0"/>
            <c:spPr>
              <a:solidFill>
                <a:srgbClr val="FF8F00"/>
              </a:solidFill>
              <a:ln w="0">
                <a:noFill/>
              </a:ln>
            </c:spPr>
          </c:dPt>
          <c:dPt>
            <c:idx val="2"/>
            <c:invertIfNegative val="0"/>
            <c:spPr>
              <a:solidFill>
                <a:srgbClr val="002E5D"/>
              </a:solidFill>
              <a:ln w="0">
                <a:noFill/>
              </a:ln>
            </c:spPr>
          </c:dPt>
          <c:dPt>
            <c:idx val="3"/>
            <c:invertIfNegative val="0"/>
            <c:spPr>
              <a:solidFill>
                <a:srgbClr val="A6A6A6"/>
              </a:solidFill>
              <a:ln w="0">
                <a:noFill/>
              </a:ln>
            </c:spPr>
          </c:dPt>
          <c:dLbls>
            <c:dLbl>
              <c:idx val="0"/>
              <c:numFmt formatCode="0.0%" sourceLinked="0"/>
              <c:txPr>
                <a:bodyPr wrap="square"/>
                <a:lstStyle/>
                <a:p>
                  <a:pPr>
                    <a:defRPr sz="1300" b="0" u="none" strike="noStrike">
                      <a:solidFill>
                        <a:srgbClr val="FFFFFF"/>
                      </a:solidFill>
                      <a:uFillTx/>
                      <a:latin typeface="JetBrains Mono"/>
                    </a:defRPr>
                  </a:pPr>
                </a:p>
              </c:txPr>
              <c:dLblPos val="outEnd"/>
              <c:showLegendKey val="0"/>
              <c:showVal val="1"/>
              <c:showCatName val="0"/>
              <c:showSerName val="0"/>
              <c:showPercent val="0"/>
              <c:separator>; </c:separator>
            </c:dLbl>
            <c:dLbl>
              <c:idx val="1"/>
              <c:numFmt formatCode="0.0%" sourceLinked="0"/>
              <c:txPr>
                <a:bodyPr wrap="square"/>
                <a:lstStyle/>
                <a:p>
                  <a:pPr>
                    <a:defRPr sz="1300" b="0" u="none" strike="noStrike">
                      <a:solidFill>
                        <a:srgbClr val="FFFFFF"/>
                      </a:solidFill>
                      <a:uFillTx/>
                      <a:latin typeface="JetBrains Mono"/>
                    </a:defRPr>
                  </a:pPr>
                </a:p>
              </c:txPr>
              <c:dLblPos val="outEnd"/>
              <c:showLegendKey val="0"/>
              <c:showVal val="1"/>
              <c:showCatName val="0"/>
              <c:showSerName val="0"/>
              <c:showPercent val="0"/>
              <c:separator>; </c:separator>
            </c:dLbl>
            <c:dLbl>
              <c:idx val="2"/>
              <c:numFmt formatCode="0.0%" sourceLinked="0"/>
              <c:txPr>
                <a:bodyPr wrap="square"/>
                <a:lstStyle/>
                <a:p>
                  <a:pPr>
                    <a:defRPr sz="1300" b="0" u="none" strike="noStrike">
                      <a:solidFill>
                        <a:srgbClr val="FFFFFF"/>
                      </a:solidFill>
                      <a:uFillTx/>
                      <a:latin typeface="JetBrains Mono"/>
                    </a:defRPr>
                  </a:pPr>
                </a:p>
              </c:txPr>
              <c:dLblPos val="outEnd"/>
              <c:showLegendKey val="0"/>
              <c:showVal val="1"/>
              <c:showCatName val="0"/>
              <c:showSerName val="0"/>
              <c:showPercent val="0"/>
              <c:separator>; </c:separator>
            </c:dLbl>
            <c:dLbl>
              <c:idx val="3"/>
              <c:numFmt formatCode="0.0%" sourceLinked="0"/>
              <c:txPr>
                <a:bodyPr wrap="square"/>
                <a:lstStyle/>
                <a:p>
                  <a:pPr>
                    <a:defRPr sz="1300" b="0" u="none" strike="noStrike">
                      <a:solidFill>
                        <a:srgbClr val="FFFFFF"/>
                      </a:solidFill>
                      <a:uFillTx/>
                      <a:latin typeface="JetBrains Mono"/>
                    </a:defRPr>
                  </a:pPr>
                </a:p>
              </c:txPr>
              <c:dLblPos val="outEnd"/>
              <c:showLegendKey val="0"/>
              <c:showVal val="1"/>
              <c:showCatName val="0"/>
              <c:showSerName val="0"/>
              <c:showPercent val="0"/>
              <c:separator>; </c:separator>
            </c:dLbl>
            <c:numFmt formatCode="0.0%" sourceLinked="0"/>
            <c:txPr>
              <a:bodyPr wrap="square"/>
              <a:lstStyle/>
              <a:p>
                <a:pPr>
                  <a:defRPr sz="1300" b="0" u="none" strike="noStrike">
                    <a:solidFill>
                      <a:srgbClr val="FFFFFF"/>
                    </a:solidFill>
                    <a:uFillTx/>
                    <a:latin typeface="JetBrains Mono"/>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Harvard</c:v>
                </c:pt>
                <c:pt idx="1">
                  <c:v>Princeton</c:v>
                </c:pt>
                <c:pt idx="2">
                  <c:v>BYU</c:v>
                </c:pt>
                <c:pt idx="3">
                  <c:v>National
Average</c:v>
                </c:pt>
              </c:strCache>
            </c:strRef>
          </c:cat>
          <c:val>
            <c:numRef>
              <c:f>0</c:f>
              <c:numCache>
                <c:formatCode>General</c:formatCode>
                <c:ptCount val="4"/>
                <c:pt idx="0">
                  <c:v>0.273</c:v>
                </c:pt>
                <c:pt idx="1">
                  <c:v>0.374</c:v>
                </c:pt>
                <c:pt idx="2">
                  <c:v>0.198</c:v>
                </c:pt>
                <c:pt idx="3">
                  <c:v>0.024</c:v>
                </c:pt>
              </c:numCache>
            </c:numRef>
          </c:val>
        </c:ser>
        <c:gapWidth val="45"/>
        <c:overlap val="0"/>
        <c:axId val="15689562"/>
        <c:axId val="65350626"/>
      </c:barChart>
      <c:catAx>
        <c:axId val="15689562"/>
        <c:scaling>
          <c:orientation val="minMax"/>
        </c:scaling>
        <c:delete val="0"/>
        <c:axPos val="b"/>
        <c:numFmt formatCode="General" sourceLinked="0"/>
        <c:majorTickMark val="out"/>
        <c:minorTickMark val="none"/>
        <c:tickLblPos val="low"/>
        <c:spPr>
          <a:ln w="12600">
            <a:solidFill>
              <a:srgbClr val="1A1A1A"/>
            </a:solidFill>
            <a:round/>
          </a:ln>
        </c:spPr>
        <c:txPr>
          <a:bodyPr/>
          <a:lstStyle/>
          <a:p>
            <a:pPr>
              <a:defRPr sz="1300" b="0" u="none" strike="noStrike">
                <a:solidFill>
                  <a:srgbClr val="888888"/>
                </a:solidFill>
                <a:uFillTx/>
                <a:latin typeface="Inter"/>
              </a:defRPr>
            </a:pPr>
          </a:p>
        </c:txPr>
        <c:crossAx val="65350626"/>
        <c:crosses val="autoZero"/>
        <c:auto val="1"/>
        <c:lblAlgn val="ctr"/>
        <c:lblOffset val="100"/>
        <c:noMultiLvlLbl val="0"/>
      </c:catAx>
      <c:valAx>
        <c:axId val="65350626"/>
        <c:scaling>
          <c:orientation val="minMax"/>
          <c:max val="0.4"/>
          <c:min val="0"/>
        </c:scaling>
        <c:delete val="1"/>
        <c:axPos val="l"/>
        <c:numFmt formatCode="General" sourceLinked="1"/>
        <c:majorTickMark val="out"/>
        <c:minorTickMark val="none"/>
        <c:tickLblPos val="nextTo"/>
        <c:spPr>
          <a:ln w="12600">
            <a:solidFill>
              <a:srgbClr val="888888"/>
            </a:solidFill>
            <a:round/>
          </a:ln>
        </c:spPr>
        <c:txPr>
          <a:bodyPr/>
          <a:lstStyle/>
          <a:p>
            <a:pPr>
              <a:defRPr sz="1200" b="0" u="none" strike="noStrike">
                <a:solidFill>
                  <a:srgbClr val="000000"/>
                </a:solidFill>
                <a:uFillTx/>
                <a:latin typeface="Arial"/>
              </a:defRPr>
            </a:pPr>
          </a:p>
        </c:txPr>
        <c:crossAx val="15689562"/>
        <c:crossBetween val="between"/>
      </c:valAx>
      <c:spPr>
        <a:solidFill>
          <a:srgbClr val="090909"/>
        </a:solidFill>
        <a:ln w="0">
          <a:noFill/>
        </a:ln>
      </c:spPr>
    </c:plotArea>
    <c:plotVisOnly val="1"/>
    <c:dispBlanksAs val="span"/>
  </c:chart>
  <c:spPr>
    <a:solidFill>
      <a:srgbClr val="090909"/>
    </a:solid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colors2.xml><?xml version="1.0" encoding="utf-8"?>
<cs:colorStyle xmlns:cs="http://schemas.microsoft.com/office/drawing/2012/chartStyle" xmlns:a="http://schemas.openxmlformats.org/drawingml/2006/main" meth="cycle" id="10">
  <a:schemeClr val="accent1"/>
</cs:colorStyle>
</file>

<file path=ppt/charts/colors3.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3.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7C75705-F0C8-46DF-A33E-6C3FF08BC86F}"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685800" y="1143000"/>
            <a:ext cx="5486040" cy="3085920"/>
          </a:xfrm>
          <a:prstGeom prst="rect">
            <a:avLst/>
          </a:prstGeom>
          <a:ln w="0">
            <a:noFill/>
          </a:ln>
        </p:spPr>
      </p:sp>
      <p:sp>
        <p:nvSpPr>
          <p:cNvPr id="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 by reframing the whole deck: sticker price and salary numbers alone don't answer whether college is worth it. The real question is a ratio — debt versus the earnings boost a degree actually buys. We'll walk through Harvard, Princeton, and BYU using that lens, then show what it means if a school you're considering doesn't clear the bar.</a:t>
            </a:r>
            <a:endParaRPr lang="en-US" sz="2000" b="0" u="none" strike="noStrike">
              <a:solidFill>
                <a:srgbClr val="000000"/>
              </a:solidFill>
              <a:effectLst/>
              <a:uFillTx/>
              <a:latin typeface="Arial"/>
            </a:endParaRPr>
          </a:p>
        </p:txBody>
      </p:sp>
      <p:sp>
        <p:nvSpPr>
          <p:cNvPr id="6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C4F0666-F980-4C27-B62F-A2C2409B7FE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sldImg"/>
          </p:nvPr>
        </p:nvSpPr>
        <p:spPr>
          <a:xfrm>
            <a:off x="685800" y="1143000"/>
            <a:ext cx="5486040" cy="3085920"/>
          </a:xfrm>
          <a:prstGeom prst="rect">
            <a:avLst/>
          </a:prstGeom>
          <a:ln w="0">
            <a:noFill/>
          </a:ln>
        </p:spPr>
      </p:sp>
      <p:sp>
        <p:nvSpPr>
          <p:cNvPr id="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Neither number tells the story alone. Princeton costs the least in debt AND pays the most — but Harvard and BYU both raise a real question: is a bigger debt load (Harvard) or a smaller earnings number (BYU) actually the worse deal? You can't tell from these bars side by side, which is why we need a single ratio.</a:t>
            </a:r>
            <a:endParaRPr lang="en-US" sz="2000" b="0" u="none" strike="noStrike">
              <a:solidFill>
                <a:srgbClr val="000000"/>
              </a:solidFill>
              <a:effectLst/>
              <a:uFillTx/>
              <a:latin typeface="Arial"/>
            </a:endParaRPr>
          </a:p>
        </p:txBody>
      </p:sp>
      <p:sp>
        <p:nvSpPr>
          <p:cNvPr id="6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4469522-732C-483F-8F41-DCED18FDC71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ldImg"/>
          </p:nvPr>
        </p:nvSpPr>
        <p:spPr>
          <a:xfrm>
            <a:off x="685800" y="1143000"/>
            <a:ext cx="5486040" cy="3085920"/>
          </a:xfrm>
          <a:prstGeom prst="rect">
            <a:avLst/>
          </a:prstGeom>
          <a:ln w="0">
            <a:noFill/>
          </a:ln>
        </p:spPr>
      </p:sp>
      <p:sp>
        <p:nvSpPr>
          <p:cNvPr id="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ratio is Median Debt divided by the state's college wage premium (bachelor's earnings minus high-school-only earnings). It answers the real question: how much debt am I taking on per dollar of the earnings boost a degree actually buys? Princeton wins outright at 0.267 — Harvard is a solid second at 0.386, and BYU trails at 0.520, though all three are about to look excellent next to the national picture.</a:t>
            </a:r>
            <a:endParaRPr lang="en-US" sz="2000" b="0" u="none" strike="noStrike">
              <a:solidFill>
                <a:srgbClr val="000000"/>
              </a:solidFill>
              <a:effectLst/>
              <a:uFillTx/>
              <a:latin typeface="Arial"/>
            </a:endParaRPr>
          </a:p>
        </p:txBody>
      </p:sp>
      <p:sp>
        <p:nvSpPr>
          <p:cNvPr id="6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7DF74F-C36B-4CF9-8E68-6BEB9EE985C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sldImg"/>
          </p:nvPr>
        </p:nvSpPr>
        <p:spPr>
          <a:xfrm>
            <a:off x="685800" y="1143000"/>
            <a:ext cx="5486040" cy="3085920"/>
          </a:xfrm>
          <a:prstGeom prst="rect">
            <a:avLst/>
          </a:prstGeom>
          <a:ln w="0">
            <a:noFill/>
          </a:ln>
        </p:spPr>
      </p:sp>
      <p:sp>
        <p:nvSpPr>
          <p:cNvPr id="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Real Earnings vs. State Baseline is each school's median 10-year earnings minus the average bachelor's-holder earnings in that state — i.e., how much a school's grads out-earn the typical degree holder around them. All three schools clear the average bachelor's payoff by a wide margin. The gray bar on the right is the reality for a typical school nationally — which sets up the next slide.</a:t>
            </a:r>
            <a:endParaRPr lang="en-US" sz="2000" b="0" u="none" strike="noStrike">
              <a:solidFill>
                <a:srgbClr val="000000"/>
              </a:solidFill>
              <a:effectLst/>
              <a:uFillTx/>
              <a:latin typeface="Arial"/>
            </a:endParaRPr>
          </a:p>
        </p:txBody>
      </p:sp>
      <p:sp>
        <p:nvSpPr>
          <p:cNvPr id="71"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3D03C0-77D6-489A-9758-83D4F9427A7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sldImg"/>
          </p:nvPr>
        </p:nvSpPr>
        <p:spPr>
          <a:xfrm>
            <a:off x="685800" y="1143000"/>
            <a:ext cx="5486040" cy="3085920"/>
          </a:xfrm>
          <a:prstGeom prst="rect">
            <a:avLst/>
          </a:prstGeom>
          <a:ln w="0">
            <a:noFill/>
          </a:ln>
        </p:spPr>
      </p:sp>
      <p:sp>
        <p:nvSpPr>
          <p:cNvPr id="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counterweight to the last three slides. Harvard, Princeton, and BYU are exceptions — the average school in this 200-school dataset only lifts earnings 2.4% above the state's typical bachelor's-holder wage, which barely covers the debt most students take on. The point for this audience: don't assume any degree pays off by default. If the numbers for a specific school don't clear this bar, skipping it is a rational decision, not a lesser one.</a:t>
            </a:r>
            <a:endParaRPr lang="en-US" sz="2000" b="0" u="none" strike="noStrike">
              <a:solidFill>
                <a:srgbClr val="000000"/>
              </a:solidFill>
              <a:effectLst/>
              <a:uFillTx/>
              <a:latin typeface="Arial"/>
            </a:endParaRPr>
          </a:p>
        </p:txBody>
      </p:sp>
      <p:sp>
        <p:nvSpPr>
          <p:cNvPr id="7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A7CED4-9651-4995-BFB3-088605E601D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sldImg"/>
          </p:nvPr>
        </p:nvSpPr>
        <p:spPr>
          <a:xfrm>
            <a:off x="685800" y="1143000"/>
            <a:ext cx="5486040" cy="3085920"/>
          </a:xfrm>
          <a:prstGeom prst="rect">
            <a:avLst/>
          </a:prstGeom>
          <a:ln w="0">
            <a:noFill/>
          </a:ln>
        </p:spPr>
      </p:sp>
      <p:sp>
        <p:nvSpPr>
          <p:cNvPr id="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Close by handing over the tool, not just the conclusion. Any prospective student can pull their own debt figure and state wage data and run these two formulas for any acceptance letter. The takeaway: pick the best ratio among your options — and if none of them clear their state's baseline, it's fine to not go at all.</a:t>
            </a:r>
            <a:endParaRPr lang="en-US" sz="2000" b="0" u="none" strike="noStrike">
              <a:solidFill>
                <a:srgbClr val="000000"/>
              </a:solidFill>
              <a:effectLst/>
              <a:uFillTx/>
              <a:latin typeface="Arial"/>
            </a:endParaRPr>
          </a:p>
        </p:txBody>
      </p:sp>
      <p:sp>
        <p:nvSpPr>
          <p:cNvPr id="7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40887C7-3F28-4CC4-BDF5-CE4FB108C9C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0D0D"/>
        </a:solidFill>
      </p:bgPr>
    </p:bg>
    <p:spTree>
      <p:nvGrpSpPr>
        <p:cNvPr id="1" name=""/>
        <p:cNvGrpSpPr/>
        <p:nvPr/>
      </p:nvGrpSpPr>
      <p:grpSpPr>
        <a:xfrm>
          <a:off x="0" y="0"/>
          <a:ext cx="0" cy="0"/>
          <a:chOff x="0" y="0"/>
          <a:chExt cx="0" cy="0"/>
        </a:xfrm>
      </p:grpSpPr>
      <p:sp>
        <p:nvSpPr>
          <p:cNvPr id="10" name="Text 0"/>
          <p:cNvSpPr/>
          <p:nvPr/>
        </p:nvSpPr>
        <p:spPr>
          <a:xfrm>
            <a:off x="685800" y="1965960"/>
            <a:ext cx="108169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400" strike="noStrike">
                <a:solidFill>
                  <a:srgbClr val="CC2200"/>
                </a:solidFill>
                <a:effectLst/>
                <a:uFillTx/>
                <a:latin typeface="JetBrains Mono"/>
                <a:ea typeface="JetBrains Mono"/>
              </a:rPr>
              <a:t>COLLEGE ROI · HARVARD · PRINCETON · BYU</a:t>
            </a:r>
            <a:endParaRPr lang="en-US" sz="1200" b="0" u="none" strike="noStrike">
              <a:solidFill>
                <a:srgbClr val="FFFFFF"/>
              </a:solidFill>
              <a:effectLst/>
              <a:uFillTx/>
              <a:latin typeface="Arial"/>
            </a:endParaRPr>
          </a:p>
        </p:txBody>
      </p:sp>
      <p:sp>
        <p:nvSpPr>
          <p:cNvPr id="11" name="Text 1"/>
          <p:cNvSpPr/>
          <p:nvPr/>
        </p:nvSpPr>
        <p:spPr>
          <a:xfrm>
            <a:off x="685800" y="2331720"/>
            <a:ext cx="10816920" cy="2377080"/>
          </a:xfrm>
          <a:prstGeom prst="rect">
            <a:avLst/>
          </a:prstGeom>
          <a:noFill/>
          <a:ln w="0">
            <a:noFill/>
          </a:ln>
        </p:spPr>
        <p:style>
          <a:lnRef idx="0"/>
          <a:fillRef idx="0"/>
          <a:effectRef idx="0"/>
          <a:fontRef idx="minor"/>
        </p:style>
        <p:txBody>
          <a:bodyPr lIns="0" tIns="0" rIns="0" bIns="0" anchor="ctr">
            <a:noAutofit/>
          </a:bodyPr>
          <a:p>
            <a:pPr defTabSz="914400">
              <a:lnSpc>
                <a:spcPct val="102000"/>
              </a:lnSpc>
              <a:tabLst>
                <a:tab pos="0" algn="l"/>
              </a:tabLst>
            </a:pPr>
            <a:r>
              <a:rPr lang="en-US" sz="5200" b="1" u="none" strike="noStrike">
                <a:solidFill>
                  <a:srgbClr val="FFFFFF"/>
                </a:solidFill>
                <a:effectLst/>
                <a:uFillTx/>
                <a:latin typeface="Inter"/>
                <a:ea typeface="Inter"/>
              </a:rPr>
              <a:t>It's Not About Cost.</a:t>
            </a:r>
            <a:endParaRPr lang="en-US" sz="5200" b="0" u="none" strike="noStrike">
              <a:solidFill>
                <a:srgbClr val="FFFFFF"/>
              </a:solidFill>
              <a:effectLst/>
              <a:uFillTx/>
              <a:latin typeface="Arial"/>
            </a:endParaRPr>
          </a:p>
          <a:p>
            <a:pPr defTabSz="914400">
              <a:lnSpc>
                <a:spcPct val="102000"/>
              </a:lnSpc>
              <a:tabLst>
                <a:tab pos="0" algn="l"/>
              </a:tabLst>
            </a:pPr>
            <a:r>
              <a:rPr lang="en-US" sz="5200" b="1" u="none" strike="noStrike">
                <a:solidFill>
                  <a:srgbClr val="FFFFFF"/>
                </a:solidFill>
                <a:effectLst/>
                <a:uFillTx/>
                <a:latin typeface="Inter"/>
                <a:ea typeface="Inter"/>
              </a:rPr>
              <a:t>It's About </a:t>
            </a:r>
            <a:endParaRPr lang="en-US" sz="5200" b="0" u="none" strike="noStrike">
              <a:solidFill>
                <a:srgbClr val="FFFFFF"/>
              </a:solidFill>
              <a:effectLst/>
              <a:uFillTx/>
              <a:latin typeface="Arial"/>
            </a:endParaRPr>
          </a:p>
          <a:p>
            <a:pPr defTabSz="914400">
              <a:lnSpc>
                <a:spcPct val="102000"/>
              </a:lnSpc>
              <a:tabLst>
                <a:tab pos="0" algn="l"/>
              </a:tabLst>
            </a:pPr>
            <a:r>
              <a:rPr lang="en-US" sz="5200" b="1" u="none" strike="noStrike">
                <a:solidFill>
                  <a:srgbClr val="CC2200"/>
                </a:solidFill>
                <a:effectLst/>
                <a:uFillTx/>
                <a:latin typeface="Inter"/>
                <a:ea typeface="Inter"/>
              </a:rPr>
              <a:t>PAYOFF.</a:t>
            </a:r>
            <a:endParaRPr lang="en-US" sz="5200" b="0" u="none" strike="noStrike">
              <a:solidFill>
                <a:srgbClr val="FFFFFF"/>
              </a:solidFill>
              <a:effectLst/>
              <a:uFillTx/>
              <a:latin typeface="Arial"/>
            </a:endParaRPr>
          </a:p>
        </p:txBody>
      </p:sp>
      <p:sp>
        <p:nvSpPr>
          <p:cNvPr id="12" name="Text 2"/>
          <p:cNvSpPr/>
          <p:nvPr/>
        </p:nvSpPr>
        <p:spPr>
          <a:xfrm>
            <a:off x="685800" y="4709160"/>
            <a:ext cx="7863480" cy="1005480"/>
          </a:xfrm>
          <a:prstGeom prst="rect">
            <a:avLst/>
          </a:prstGeom>
          <a:noFill/>
          <a:ln w="0">
            <a:noFill/>
          </a:ln>
        </p:spPr>
        <p:style>
          <a:lnRef idx="0"/>
          <a:fillRef idx="0"/>
          <a:effectRef idx="0"/>
          <a:fontRef idx="minor"/>
        </p:style>
        <p:txBody>
          <a:bodyPr lIns="0" tIns="0" rIns="0" bIns="0" anchor="ctr">
            <a:noAutofit/>
          </a:bodyPr>
          <a:p>
            <a:pPr defTabSz="914400">
              <a:lnSpc>
                <a:spcPct val="140000"/>
              </a:lnSpc>
              <a:tabLst>
                <a:tab pos="0" algn="l"/>
              </a:tabLst>
            </a:pPr>
            <a:r>
              <a:rPr lang="en-US" sz="1600" b="0" u="none" strike="noStrike">
                <a:solidFill>
                  <a:srgbClr val="888888"/>
                </a:solidFill>
                <a:effectLst/>
                <a:uFillTx/>
                <a:latin typeface="Inter"/>
                <a:ea typeface="Inter"/>
              </a:rPr>
              <a:t>A degree is only worth it if the earnings it buys outrun the debt it costs. Here's how three very different schools stack up — and which one wins.</a:t>
            </a:r>
            <a:endParaRPr lang="en-US" sz="1600" b="0" u="none" strike="noStrike">
              <a:solidFill>
                <a:srgbClr val="FFFFFF"/>
              </a:solidFill>
              <a:effectLst/>
              <a:uFillTx/>
              <a:latin typeface="Arial"/>
            </a:endParaRPr>
          </a:p>
        </p:txBody>
      </p:sp>
      <p:sp>
        <p:nvSpPr>
          <p:cNvPr id="13" name="Text 3"/>
          <p:cNvSpPr/>
          <p:nvPr/>
        </p:nvSpPr>
        <p:spPr>
          <a:xfrm>
            <a:off x="685800" y="6446520"/>
            <a:ext cx="108169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3A3A3A"/>
                </a:solidFill>
                <a:effectLst/>
                <a:uFillTx/>
                <a:latin typeface="JetBrains Mono"/>
                <a:ea typeface="JetBrains Mono"/>
              </a:rPr>
              <a:t>01 / 06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90909"/>
        </a:solidFill>
      </p:bgPr>
    </p:bg>
    <p:spTree>
      <p:nvGrpSpPr>
        <p:cNvPr id="1" name=""/>
        <p:cNvGrpSpPr/>
        <p:nvPr/>
      </p:nvGrpSpPr>
      <p:grpSpPr>
        <a:xfrm>
          <a:off x="0" y="0"/>
          <a:ext cx="0" cy="0"/>
          <a:chOff x="0" y="0"/>
          <a:chExt cx="0" cy="0"/>
        </a:xfrm>
      </p:grpSpPr>
      <p:sp>
        <p:nvSpPr>
          <p:cNvPr id="14" name="Text 0"/>
          <p:cNvSpPr/>
          <p:nvPr/>
        </p:nvSpPr>
        <p:spPr>
          <a:xfrm>
            <a:off x="685800" y="502920"/>
            <a:ext cx="108169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400" strike="noStrike">
                <a:solidFill>
                  <a:srgbClr val="CC2200"/>
                </a:solidFill>
                <a:effectLst/>
                <a:uFillTx/>
                <a:latin typeface="JetBrains Mono"/>
                <a:ea typeface="JetBrains Mono"/>
              </a:rPr>
              <a:t>THE RAW NUMBERS</a:t>
            </a:r>
            <a:endParaRPr lang="en-US" sz="1200" b="0" u="none" strike="noStrike">
              <a:solidFill>
                <a:srgbClr val="FFFFFF"/>
              </a:solidFill>
              <a:effectLst/>
              <a:uFillTx/>
              <a:latin typeface="Arial"/>
            </a:endParaRPr>
          </a:p>
        </p:txBody>
      </p:sp>
      <p:sp>
        <p:nvSpPr>
          <p:cNvPr id="15" name="Text 1"/>
          <p:cNvSpPr/>
          <p:nvPr/>
        </p:nvSpPr>
        <p:spPr>
          <a:xfrm>
            <a:off x="685800" y="868680"/>
            <a:ext cx="10816920" cy="82260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2800" b="1" u="none" strike="noStrike">
                <a:solidFill>
                  <a:srgbClr val="FFFFFF"/>
                </a:solidFill>
                <a:effectLst/>
                <a:uFillTx/>
                <a:latin typeface="Inter"/>
                <a:ea typeface="Inter"/>
              </a:rPr>
              <a:t>Debt and Earnings Look Nothing Alike Across These Three Schools</a:t>
            </a:r>
            <a:endParaRPr lang="en-US" sz="2800" b="0" u="none" strike="noStrike">
              <a:solidFill>
                <a:srgbClr val="FFFFFF"/>
              </a:solidFill>
              <a:effectLst/>
              <a:uFillTx/>
              <a:latin typeface="Arial"/>
            </a:endParaRPr>
          </a:p>
        </p:txBody>
      </p:sp>
      <p:graphicFrame>
        <p:nvGraphicFramePr>
          <p:cNvPr id="16" name="Chart 0"/>
          <p:cNvGraphicFramePr/>
          <p:nvPr/>
        </p:nvGraphicFramePr>
        <p:xfrm>
          <a:off x="685800" y="1874520"/>
          <a:ext cx="10816920" cy="4205880"/>
        </p:xfrm>
        <a:graphic>
          <a:graphicData uri="http://schemas.openxmlformats.org/drawingml/2006/chart">
            <c:chart xmlns:c="http://schemas.openxmlformats.org/drawingml/2006/chart" xmlns:r="http://schemas.openxmlformats.org/officeDocument/2006/relationships" r:id="rId1"/>
          </a:graphicData>
        </a:graphic>
      </p:graphicFrame>
      <p:sp>
        <p:nvSpPr>
          <p:cNvPr id="17" name="Text 2"/>
          <p:cNvSpPr/>
          <p:nvPr/>
        </p:nvSpPr>
        <p:spPr>
          <a:xfrm>
            <a:off x="685800" y="6446520"/>
            <a:ext cx="108169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3A3A3A"/>
                </a:solidFill>
                <a:effectLst/>
                <a:uFillTx/>
                <a:latin typeface="JetBrains Mono"/>
                <a:ea typeface="JetBrains Mono"/>
              </a:rPr>
              <a:t>02 / 06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0D0D"/>
        </a:solidFill>
      </p:bgPr>
    </p:bg>
    <p:spTree>
      <p:nvGrpSpPr>
        <p:cNvPr id="1" name=""/>
        <p:cNvGrpSpPr/>
        <p:nvPr/>
      </p:nvGrpSpPr>
      <p:grpSpPr>
        <a:xfrm>
          <a:off x="0" y="0"/>
          <a:ext cx="0" cy="0"/>
          <a:chOff x="0" y="0"/>
          <a:chExt cx="0" cy="0"/>
        </a:xfrm>
      </p:grpSpPr>
      <p:sp>
        <p:nvSpPr>
          <p:cNvPr id="18" name="Text 0"/>
          <p:cNvSpPr/>
          <p:nvPr/>
        </p:nvSpPr>
        <p:spPr>
          <a:xfrm>
            <a:off x="685800" y="502920"/>
            <a:ext cx="108169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400" strike="noStrike">
                <a:solidFill>
                  <a:srgbClr val="CC2200"/>
                </a:solidFill>
                <a:effectLst/>
                <a:uFillTx/>
                <a:latin typeface="JetBrains Mono"/>
                <a:ea typeface="JetBrains Mono"/>
              </a:rPr>
              <a:t>THE REAL BANG-FOR-BUCK METRIC</a:t>
            </a:r>
            <a:endParaRPr lang="en-US" sz="1200" b="0" u="none" strike="noStrike">
              <a:solidFill>
                <a:srgbClr val="FFFFFF"/>
              </a:solidFill>
              <a:effectLst/>
              <a:uFillTx/>
              <a:latin typeface="Arial"/>
            </a:endParaRPr>
          </a:p>
        </p:txBody>
      </p:sp>
      <p:sp>
        <p:nvSpPr>
          <p:cNvPr id="19" name="Text 1"/>
          <p:cNvSpPr/>
          <p:nvPr/>
        </p:nvSpPr>
        <p:spPr>
          <a:xfrm>
            <a:off x="685800" y="868680"/>
            <a:ext cx="10816920" cy="82260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2600" b="1" u="none" strike="noStrike">
                <a:solidFill>
                  <a:srgbClr val="FFFFFF"/>
                </a:solidFill>
                <a:effectLst/>
                <a:uFillTx/>
                <a:latin typeface="Inter"/>
                <a:ea typeface="Inter"/>
              </a:rPr>
              <a:t>Princeton Returns 27¢ of Debt for Every Dollar of Wage Premium</a:t>
            </a:r>
            <a:endParaRPr lang="en-US" sz="2600" b="0" u="none" strike="noStrike">
              <a:solidFill>
                <a:srgbClr val="FFFFFF"/>
              </a:solidFill>
              <a:effectLst/>
              <a:uFillTx/>
              <a:latin typeface="Arial"/>
            </a:endParaRPr>
          </a:p>
        </p:txBody>
      </p:sp>
      <p:graphicFrame>
        <p:nvGraphicFramePr>
          <p:cNvPr id="20" name="Chart 0"/>
          <p:cNvGraphicFramePr/>
          <p:nvPr/>
        </p:nvGraphicFramePr>
        <p:xfrm>
          <a:off x="1828800" y="1920240"/>
          <a:ext cx="8530920" cy="3931560"/>
        </p:xfrm>
        <a:graphic>
          <a:graphicData uri="http://schemas.openxmlformats.org/drawingml/2006/chart">
            <c:chart xmlns:c="http://schemas.openxmlformats.org/drawingml/2006/chart" xmlns:r="http://schemas.openxmlformats.org/officeDocument/2006/relationships" r:id="rId1"/>
          </a:graphicData>
        </a:graphic>
      </p:graphicFrame>
      <p:pic>
        <p:nvPicPr>
          <p:cNvPr id="21" name="Image 0" descr="/tmp/claude-1000/-home-toojmac-AI-Training-AI-builder/1ae9e5cb-c74e-40c4-91fc-4bc8d2590feb/scratchpad/logos/harvard.png"/>
          <p:cNvPicPr/>
          <p:nvPr/>
        </p:nvPicPr>
        <p:blipFill>
          <a:blip r:embed="rId2"/>
          <a:stretch/>
        </p:blipFill>
        <p:spPr>
          <a:xfrm>
            <a:off x="2707200" y="3983760"/>
            <a:ext cx="1285560" cy="1249920"/>
          </a:xfrm>
          <a:prstGeom prst="rect">
            <a:avLst/>
          </a:prstGeom>
          <a:noFill/>
          <a:ln w="0">
            <a:noFill/>
          </a:ln>
        </p:spPr>
      </p:pic>
      <p:pic>
        <p:nvPicPr>
          <p:cNvPr id="22" name="Image 1" descr="/tmp/claude-1000/-home-toojmac-AI-Training-AI-builder/1ae9e5cb-c74e-40c4-91fc-4bc8d2590feb/scratchpad/logos/princeton.png"/>
          <p:cNvPicPr/>
          <p:nvPr/>
        </p:nvPicPr>
        <p:blipFill>
          <a:blip r:embed="rId3"/>
          <a:stretch/>
        </p:blipFill>
        <p:spPr>
          <a:xfrm>
            <a:off x="5726160" y="4392000"/>
            <a:ext cx="683640" cy="873000"/>
          </a:xfrm>
          <a:prstGeom prst="rect">
            <a:avLst/>
          </a:prstGeom>
          <a:noFill/>
          <a:ln w="0">
            <a:noFill/>
          </a:ln>
        </p:spPr>
      </p:pic>
      <p:pic>
        <p:nvPicPr>
          <p:cNvPr id="23" name="Image 2" descr="/tmp/claude-1000/-home-toojmac-AI-Training-AI-builder/1ae9e5cb-c74e-40c4-91fc-4bc8d2590feb/scratchpad/logos/byu.png"/>
          <p:cNvPicPr/>
          <p:nvPr/>
        </p:nvPicPr>
        <p:blipFill>
          <a:blip r:embed="rId4"/>
          <a:stretch/>
        </p:blipFill>
        <p:spPr>
          <a:xfrm>
            <a:off x="8147880" y="3646440"/>
            <a:ext cx="1369800" cy="1371960"/>
          </a:xfrm>
          <a:prstGeom prst="rect">
            <a:avLst/>
          </a:prstGeom>
          <a:noFill/>
          <a:ln w="0">
            <a:noFill/>
          </a:ln>
        </p:spPr>
      </p:pic>
      <p:sp>
        <p:nvSpPr>
          <p:cNvPr id="24" name="Text 2"/>
          <p:cNvSpPr/>
          <p:nvPr/>
        </p:nvSpPr>
        <p:spPr>
          <a:xfrm>
            <a:off x="685800" y="5989320"/>
            <a:ext cx="108169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55555"/>
                </a:solidFill>
                <a:effectLst/>
                <a:uFillTx/>
                <a:latin typeface="JetBrains Mono"/>
                <a:ea typeface="JetBrains Mono"/>
              </a:rPr>
              <a:t>Lower is better — less debt per dollar of wage boost a degree earns in that state.</a:t>
            </a:r>
            <a:endParaRPr lang="en-US" sz="1100" b="0" u="none" strike="noStrike">
              <a:solidFill>
                <a:srgbClr val="FFFFFF"/>
              </a:solidFill>
              <a:effectLst/>
              <a:uFillTx/>
              <a:latin typeface="Arial"/>
            </a:endParaRPr>
          </a:p>
        </p:txBody>
      </p:sp>
      <p:sp>
        <p:nvSpPr>
          <p:cNvPr id="25" name="Text 3"/>
          <p:cNvSpPr/>
          <p:nvPr/>
        </p:nvSpPr>
        <p:spPr>
          <a:xfrm>
            <a:off x="685800" y="6446520"/>
            <a:ext cx="108169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3A3A3A"/>
                </a:solidFill>
                <a:effectLst/>
                <a:uFillTx/>
                <a:latin typeface="JetBrains Mono"/>
                <a:ea typeface="JetBrains Mono"/>
              </a:rPr>
              <a:t>03 / 06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90909"/>
        </a:solidFill>
      </p:bgPr>
    </p:bg>
    <p:spTree>
      <p:nvGrpSpPr>
        <p:cNvPr id="1" name=""/>
        <p:cNvGrpSpPr/>
        <p:nvPr/>
      </p:nvGrpSpPr>
      <p:grpSpPr>
        <a:xfrm>
          <a:off x="0" y="0"/>
          <a:ext cx="0" cy="0"/>
          <a:chOff x="0" y="0"/>
          <a:chExt cx="0" cy="0"/>
        </a:xfrm>
      </p:grpSpPr>
      <p:sp>
        <p:nvSpPr>
          <p:cNvPr id="26" name="Text 0"/>
          <p:cNvSpPr/>
          <p:nvPr/>
        </p:nvSpPr>
        <p:spPr>
          <a:xfrm>
            <a:off x="685800" y="502920"/>
            <a:ext cx="108169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400" strike="noStrike">
                <a:solidFill>
                  <a:srgbClr val="CC2200"/>
                </a:solidFill>
                <a:effectLst/>
                <a:uFillTx/>
                <a:latin typeface="JetBrains Mono"/>
                <a:ea typeface="JetBrains Mono"/>
              </a:rPr>
              <a:t>AGAINST THE NATIONAL PICTURE</a:t>
            </a:r>
            <a:endParaRPr lang="en-US" sz="1200" b="0" u="none" strike="noStrike">
              <a:solidFill>
                <a:srgbClr val="FFFFFF"/>
              </a:solidFill>
              <a:effectLst/>
              <a:uFillTx/>
              <a:latin typeface="Arial"/>
            </a:endParaRPr>
          </a:p>
        </p:txBody>
      </p:sp>
      <p:sp>
        <p:nvSpPr>
          <p:cNvPr id="27" name="Text 1"/>
          <p:cNvSpPr/>
          <p:nvPr/>
        </p:nvSpPr>
        <p:spPr>
          <a:xfrm>
            <a:off x="685800" y="868680"/>
            <a:ext cx="10816920" cy="82260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2800" b="1" u="none" strike="noStrike">
                <a:solidFill>
                  <a:srgbClr val="FFFFFF"/>
                </a:solidFill>
                <a:effectLst/>
                <a:uFillTx/>
                <a:latin typeface="Inter"/>
                <a:ea typeface="Inter"/>
              </a:rPr>
              <a:t>All Three Out-Earn the Typical Bachelor's Degree by 20–37%</a:t>
            </a:r>
            <a:endParaRPr lang="en-US" sz="2800" b="0" u="none" strike="noStrike">
              <a:solidFill>
                <a:srgbClr val="FFFFFF"/>
              </a:solidFill>
              <a:effectLst/>
              <a:uFillTx/>
              <a:latin typeface="Arial"/>
            </a:endParaRPr>
          </a:p>
        </p:txBody>
      </p:sp>
      <p:graphicFrame>
        <p:nvGraphicFramePr>
          <p:cNvPr id="28" name="Chart 0"/>
          <p:cNvGraphicFramePr/>
          <p:nvPr/>
        </p:nvGraphicFramePr>
        <p:xfrm>
          <a:off x="685800" y="1874520"/>
          <a:ext cx="10816920" cy="4114440"/>
        </p:xfrm>
        <a:graphic>
          <a:graphicData uri="http://schemas.openxmlformats.org/drawingml/2006/chart">
            <c:chart xmlns:c="http://schemas.openxmlformats.org/drawingml/2006/chart" xmlns:r="http://schemas.openxmlformats.org/officeDocument/2006/relationships" r:id="rId1"/>
          </a:graphicData>
        </a:graphic>
      </p:graphicFrame>
      <p:pic>
        <p:nvPicPr>
          <p:cNvPr id="29" name="Image 0" descr="/tmp/claude-1000/-home-toojmac-AI-Training-AI-builder/1ae9e5cb-c74e-40c4-91fc-4bc8d2590feb/scratchpad/logos/harvard.png"/>
          <p:cNvPicPr/>
          <p:nvPr/>
        </p:nvPicPr>
        <p:blipFill>
          <a:blip r:embed="rId2"/>
          <a:stretch/>
        </p:blipFill>
        <p:spPr>
          <a:xfrm>
            <a:off x="1492200" y="3585600"/>
            <a:ext cx="1369080" cy="1330560"/>
          </a:xfrm>
          <a:prstGeom prst="rect">
            <a:avLst/>
          </a:prstGeom>
          <a:noFill/>
          <a:ln w="0">
            <a:noFill/>
          </a:ln>
        </p:spPr>
      </p:pic>
      <p:pic>
        <p:nvPicPr>
          <p:cNvPr id="30" name="Image 1" descr="/tmp/claude-1000/-home-toojmac-AI-Training-AI-builder/1ae9e5cb-c74e-40c4-91fc-4bc8d2590feb/scratchpad/logos/princeton.png"/>
          <p:cNvPicPr/>
          <p:nvPr/>
        </p:nvPicPr>
        <p:blipFill>
          <a:blip r:embed="rId3"/>
          <a:stretch/>
        </p:blipFill>
        <p:spPr>
          <a:xfrm>
            <a:off x="4184640" y="3138480"/>
            <a:ext cx="1271880" cy="1626120"/>
          </a:xfrm>
          <a:prstGeom prst="rect">
            <a:avLst/>
          </a:prstGeom>
          <a:noFill/>
          <a:ln w="0">
            <a:noFill/>
          </a:ln>
        </p:spPr>
      </p:pic>
      <p:pic>
        <p:nvPicPr>
          <p:cNvPr id="31" name="Image 2" descr="/tmp/claude-1000/-home-toojmac-AI-Training-AI-builder/1ae9e5cb-c74e-40c4-91fc-4bc8d2590feb/scratchpad/logos/byu.png"/>
          <p:cNvPicPr/>
          <p:nvPr/>
        </p:nvPicPr>
        <p:blipFill>
          <a:blip r:embed="rId4"/>
          <a:stretch/>
        </p:blipFill>
        <p:spPr>
          <a:xfrm>
            <a:off x="6858000" y="3972600"/>
            <a:ext cx="1107000" cy="1109160"/>
          </a:xfrm>
          <a:prstGeom prst="rect">
            <a:avLst/>
          </a:prstGeom>
          <a:noFill/>
          <a:ln w="0">
            <a:noFill/>
          </a:ln>
        </p:spPr>
      </p:pic>
      <p:sp>
        <p:nvSpPr>
          <p:cNvPr id="32" name="Text 2"/>
          <p:cNvSpPr/>
          <p:nvPr/>
        </p:nvSpPr>
        <p:spPr>
          <a:xfrm>
            <a:off x="685800" y="6446520"/>
            <a:ext cx="108169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3A3A3A"/>
                </a:solidFill>
                <a:effectLst/>
                <a:uFillTx/>
                <a:latin typeface="JetBrains Mono"/>
                <a:ea typeface="JetBrains Mono"/>
              </a:rPr>
              <a:t>04 / 06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0D0D"/>
        </a:solidFill>
      </p:bgPr>
    </p:bg>
    <p:spTree>
      <p:nvGrpSpPr>
        <p:cNvPr id="1" name=""/>
        <p:cNvGrpSpPr/>
        <p:nvPr/>
      </p:nvGrpSpPr>
      <p:grpSpPr>
        <a:xfrm>
          <a:off x="0" y="0"/>
          <a:ext cx="0" cy="0"/>
          <a:chOff x="0" y="0"/>
          <a:chExt cx="0" cy="0"/>
        </a:xfrm>
      </p:grpSpPr>
      <p:sp>
        <p:nvSpPr>
          <p:cNvPr id="33" name="Text 0"/>
          <p:cNvSpPr/>
          <p:nvPr/>
        </p:nvSpPr>
        <p:spPr>
          <a:xfrm>
            <a:off x="685800" y="502920"/>
            <a:ext cx="108169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400" strike="noStrike">
                <a:solidFill>
                  <a:srgbClr val="CC2200"/>
                </a:solidFill>
                <a:effectLst/>
                <a:uFillTx/>
                <a:latin typeface="JetBrains Mono"/>
                <a:ea typeface="JetBrains Mono"/>
              </a:rPr>
              <a:t>THE REALITY CHECK</a:t>
            </a:r>
            <a:endParaRPr lang="en-US" sz="1200" b="0" u="none" strike="noStrike">
              <a:solidFill>
                <a:srgbClr val="FFFFFF"/>
              </a:solidFill>
              <a:effectLst/>
              <a:uFillTx/>
              <a:latin typeface="Arial"/>
            </a:endParaRPr>
          </a:p>
        </p:txBody>
      </p:sp>
      <p:sp>
        <p:nvSpPr>
          <p:cNvPr id="34" name="Text 1"/>
          <p:cNvSpPr/>
          <p:nvPr/>
        </p:nvSpPr>
        <p:spPr>
          <a:xfrm>
            <a:off x="685800" y="868680"/>
            <a:ext cx="10816920" cy="82260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2800" b="1" u="none" strike="noStrike">
                <a:solidFill>
                  <a:srgbClr val="FFFFFF"/>
                </a:solidFill>
                <a:effectLst/>
                <a:uFillTx/>
                <a:latin typeface="Inter"/>
                <a:ea typeface="Inter"/>
              </a:rPr>
              <a:t>For a Typical School, the Premium Is Only 2.4%</a:t>
            </a:r>
            <a:endParaRPr lang="en-US" sz="2800" b="0" u="none" strike="noStrike">
              <a:solidFill>
                <a:srgbClr val="FFFFFF"/>
              </a:solidFill>
              <a:effectLst/>
              <a:uFillTx/>
              <a:latin typeface="Arial"/>
            </a:endParaRPr>
          </a:p>
        </p:txBody>
      </p:sp>
      <p:sp>
        <p:nvSpPr>
          <p:cNvPr id="35" name="Text 2"/>
          <p:cNvSpPr/>
          <p:nvPr/>
        </p:nvSpPr>
        <p:spPr>
          <a:xfrm>
            <a:off x="685800" y="2103120"/>
            <a:ext cx="4571640" cy="1828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0" b="1" u="none" strike="noStrike">
                <a:solidFill>
                  <a:srgbClr val="555555"/>
                </a:solidFill>
                <a:effectLst/>
                <a:uFillTx/>
                <a:latin typeface="Inter"/>
                <a:ea typeface="Inter"/>
              </a:rPr>
              <a:t>2.4%</a:t>
            </a:r>
            <a:endParaRPr lang="en-US" sz="9000" b="0" u="none" strike="noStrike">
              <a:solidFill>
                <a:srgbClr val="FFFFFF"/>
              </a:solidFill>
              <a:effectLst/>
              <a:uFillTx/>
              <a:latin typeface="Arial"/>
            </a:endParaRPr>
          </a:p>
        </p:txBody>
      </p:sp>
      <p:sp>
        <p:nvSpPr>
          <p:cNvPr id="36" name="Text 3"/>
          <p:cNvSpPr/>
          <p:nvPr/>
        </p:nvSpPr>
        <p:spPr>
          <a:xfrm>
            <a:off x="685800" y="3794760"/>
            <a:ext cx="4571640" cy="822600"/>
          </a:xfrm>
          <a:prstGeom prst="rect">
            <a:avLst/>
          </a:prstGeom>
          <a:noFill/>
          <a:ln w="0">
            <a:noFill/>
          </a:ln>
        </p:spPr>
        <p:style>
          <a:lnRef idx="0"/>
          <a:fillRef idx="0"/>
          <a:effectRef idx="0"/>
          <a:fontRef idx="minor"/>
        </p:style>
        <p:txBody>
          <a:bodyPr lIns="0" tIns="0" rIns="0" bIns="0" anchor="ctr">
            <a:noAutofit/>
          </a:bodyPr>
          <a:p>
            <a:pPr defTabSz="914400">
              <a:lnSpc>
                <a:spcPct val="130000"/>
              </a:lnSpc>
              <a:tabLst>
                <a:tab pos="0" algn="l"/>
              </a:tabLst>
            </a:pPr>
            <a:r>
              <a:rPr lang="en-US" sz="1300" b="0" u="none" strike="noStrike">
                <a:solidFill>
                  <a:srgbClr val="888888"/>
                </a:solidFill>
                <a:effectLst/>
                <a:uFillTx/>
                <a:latin typeface="JetBrains Mono"/>
                <a:ea typeface="JetBrains Mono"/>
              </a:rPr>
              <a:t>average earnings premium</a:t>
            </a:r>
            <a:endParaRPr lang="en-US" sz="1300" b="0" u="none" strike="noStrike">
              <a:solidFill>
                <a:srgbClr val="FFFFFF"/>
              </a:solidFill>
              <a:effectLst/>
              <a:uFillTx/>
              <a:latin typeface="Arial"/>
            </a:endParaRPr>
          </a:p>
          <a:p>
            <a:pPr defTabSz="914400">
              <a:lnSpc>
                <a:spcPct val="130000"/>
              </a:lnSpc>
              <a:tabLst>
                <a:tab pos="0" algn="l"/>
              </a:tabLst>
            </a:pPr>
            <a:r>
              <a:rPr lang="en-US" sz="1300" b="0" u="none" strike="noStrike">
                <a:solidFill>
                  <a:srgbClr val="888888"/>
                </a:solidFill>
                <a:effectLst/>
                <a:uFillTx/>
                <a:latin typeface="JetBrains Mono"/>
                <a:ea typeface="JetBrains Mono"/>
              </a:rPr>
              <a:t>at a typical U.S. school</a:t>
            </a:r>
            <a:endParaRPr lang="en-US" sz="1300" b="0" u="none" strike="noStrike">
              <a:solidFill>
                <a:srgbClr val="FFFFFF"/>
              </a:solidFill>
              <a:effectLst/>
              <a:uFillTx/>
              <a:latin typeface="Arial"/>
            </a:endParaRPr>
          </a:p>
        </p:txBody>
      </p:sp>
      <p:sp>
        <p:nvSpPr>
          <p:cNvPr id="37" name="Shape 4"/>
          <p:cNvSpPr/>
          <p:nvPr/>
        </p:nvSpPr>
        <p:spPr>
          <a:xfrm>
            <a:off x="5760720" y="2103120"/>
            <a:ext cx="1691280" cy="1371240"/>
          </a:xfrm>
          <a:prstGeom prst="roundRect">
            <a:avLst>
              <a:gd name="adj" fmla="val 5333"/>
            </a:avLst>
          </a:prstGeom>
          <a:solidFill>
            <a:srgbClr val="0E0E0E"/>
          </a:solidFill>
          <a:ln w="12700">
            <a:solidFill>
              <a:srgbClr val="1A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 name="Text 5"/>
          <p:cNvSpPr/>
          <p:nvPr/>
        </p:nvSpPr>
        <p:spPr>
          <a:xfrm>
            <a:off x="5760720" y="2212920"/>
            <a:ext cx="169128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CC2200"/>
                </a:solidFill>
                <a:effectLst/>
                <a:uFillTx/>
                <a:latin typeface="Inter"/>
                <a:ea typeface="Inter"/>
              </a:rPr>
              <a:t>27.3%</a:t>
            </a:r>
            <a:endParaRPr lang="en-US" sz="2400" b="0" u="none" strike="noStrike">
              <a:solidFill>
                <a:srgbClr val="FFFFFF"/>
              </a:solidFill>
              <a:effectLst/>
              <a:uFillTx/>
              <a:latin typeface="Arial"/>
            </a:endParaRPr>
          </a:p>
        </p:txBody>
      </p:sp>
      <p:sp>
        <p:nvSpPr>
          <p:cNvPr id="39" name="Text 6"/>
          <p:cNvSpPr/>
          <p:nvPr/>
        </p:nvSpPr>
        <p:spPr>
          <a:xfrm>
            <a:off x="5760720" y="2907720"/>
            <a:ext cx="16912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88888"/>
                </a:solidFill>
                <a:effectLst/>
                <a:uFillTx/>
                <a:latin typeface="JetBrains Mono"/>
                <a:ea typeface="JetBrains Mono"/>
              </a:rPr>
              <a:t>Harvard</a:t>
            </a:r>
            <a:endParaRPr lang="en-US" sz="1200" b="0" u="none" strike="noStrike">
              <a:solidFill>
                <a:srgbClr val="FFFFFF"/>
              </a:solidFill>
              <a:effectLst/>
              <a:uFillTx/>
              <a:latin typeface="Arial"/>
            </a:endParaRPr>
          </a:p>
        </p:txBody>
      </p:sp>
      <p:sp>
        <p:nvSpPr>
          <p:cNvPr id="40" name="Shape 7"/>
          <p:cNvSpPr/>
          <p:nvPr/>
        </p:nvSpPr>
        <p:spPr>
          <a:xfrm>
            <a:off x="7745040" y="2103120"/>
            <a:ext cx="1691280" cy="1371240"/>
          </a:xfrm>
          <a:prstGeom prst="roundRect">
            <a:avLst>
              <a:gd name="adj" fmla="val 5333"/>
            </a:avLst>
          </a:prstGeom>
          <a:solidFill>
            <a:srgbClr val="0E0E0E"/>
          </a:solidFill>
          <a:ln w="12700">
            <a:solidFill>
              <a:srgbClr val="1A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 name="Text 8"/>
          <p:cNvSpPr/>
          <p:nvPr/>
        </p:nvSpPr>
        <p:spPr>
          <a:xfrm>
            <a:off x="7745040" y="2212920"/>
            <a:ext cx="169128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CC2200"/>
                </a:solidFill>
                <a:effectLst/>
                <a:uFillTx/>
                <a:latin typeface="Inter"/>
                <a:ea typeface="Inter"/>
              </a:rPr>
              <a:t>37.4%</a:t>
            </a:r>
            <a:endParaRPr lang="en-US" sz="2400" b="0" u="none" strike="noStrike">
              <a:solidFill>
                <a:srgbClr val="FFFFFF"/>
              </a:solidFill>
              <a:effectLst/>
              <a:uFillTx/>
              <a:latin typeface="Arial"/>
            </a:endParaRPr>
          </a:p>
        </p:txBody>
      </p:sp>
      <p:sp>
        <p:nvSpPr>
          <p:cNvPr id="42" name="Text 9"/>
          <p:cNvSpPr/>
          <p:nvPr/>
        </p:nvSpPr>
        <p:spPr>
          <a:xfrm>
            <a:off x="7745040" y="2907720"/>
            <a:ext cx="16912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88888"/>
                </a:solidFill>
                <a:effectLst/>
                <a:uFillTx/>
                <a:latin typeface="JetBrains Mono"/>
                <a:ea typeface="JetBrains Mono"/>
              </a:rPr>
              <a:t>Princeton</a:t>
            </a:r>
            <a:endParaRPr lang="en-US" sz="1200" b="0" u="none" strike="noStrike">
              <a:solidFill>
                <a:srgbClr val="FFFFFF"/>
              </a:solidFill>
              <a:effectLst/>
              <a:uFillTx/>
              <a:latin typeface="Arial"/>
            </a:endParaRPr>
          </a:p>
        </p:txBody>
      </p:sp>
      <p:sp>
        <p:nvSpPr>
          <p:cNvPr id="43" name="Shape 10"/>
          <p:cNvSpPr/>
          <p:nvPr/>
        </p:nvSpPr>
        <p:spPr>
          <a:xfrm>
            <a:off x="9729360" y="2103120"/>
            <a:ext cx="1691280" cy="1371240"/>
          </a:xfrm>
          <a:prstGeom prst="roundRect">
            <a:avLst>
              <a:gd name="adj" fmla="val 5333"/>
            </a:avLst>
          </a:prstGeom>
          <a:solidFill>
            <a:srgbClr val="0E0E0E"/>
          </a:solidFill>
          <a:ln w="12700">
            <a:solidFill>
              <a:srgbClr val="1A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 name="Text 11"/>
          <p:cNvSpPr/>
          <p:nvPr/>
        </p:nvSpPr>
        <p:spPr>
          <a:xfrm>
            <a:off x="9729360" y="2212920"/>
            <a:ext cx="169128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CC2200"/>
                </a:solidFill>
                <a:effectLst/>
                <a:uFillTx/>
                <a:latin typeface="Inter"/>
                <a:ea typeface="Inter"/>
              </a:rPr>
              <a:t>19.8%</a:t>
            </a:r>
            <a:endParaRPr lang="en-US" sz="2400" b="0" u="none" strike="noStrike">
              <a:solidFill>
                <a:srgbClr val="FFFFFF"/>
              </a:solidFill>
              <a:effectLst/>
              <a:uFillTx/>
              <a:latin typeface="Arial"/>
            </a:endParaRPr>
          </a:p>
        </p:txBody>
      </p:sp>
      <p:sp>
        <p:nvSpPr>
          <p:cNvPr id="45" name="Text 12"/>
          <p:cNvSpPr/>
          <p:nvPr/>
        </p:nvSpPr>
        <p:spPr>
          <a:xfrm>
            <a:off x="9729360" y="2907720"/>
            <a:ext cx="16912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88888"/>
                </a:solidFill>
                <a:effectLst/>
                <a:uFillTx/>
                <a:latin typeface="JetBrains Mono"/>
                <a:ea typeface="JetBrains Mono"/>
              </a:rPr>
              <a:t>BYU</a:t>
            </a:r>
            <a:endParaRPr lang="en-US" sz="1200" b="0" u="none" strike="noStrike">
              <a:solidFill>
                <a:srgbClr val="FFFFFF"/>
              </a:solidFill>
              <a:effectLst/>
              <a:uFillTx/>
              <a:latin typeface="Arial"/>
            </a:endParaRPr>
          </a:p>
        </p:txBody>
      </p:sp>
      <p:sp>
        <p:nvSpPr>
          <p:cNvPr id="46" name="Text 13"/>
          <p:cNvSpPr/>
          <p:nvPr/>
        </p:nvSpPr>
        <p:spPr>
          <a:xfrm>
            <a:off x="685800" y="5212080"/>
            <a:ext cx="10816920" cy="914040"/>
          </a:xfrm>
          <a:prstGeom prst="rect">
            <a:avLst/>
          </a:prstGeom>
          <a:noFill/>
          <a:ln w="0">
            <a:noFill/>
          </a:ln>
        </p:spPr>
        <p:style>
          <a:lnRef idx="0"/>
          <a:fillRef idx="0"/>
          <a:effectRef idx="0"/>
          <a:fontRef idx="minor"/>
        </p:style>
        <p:txBody>
          <a:bodyPr lIns="0" tIns="0" rIns="0" bIns="0" anchor="ctr">
            <a:noAutofit/>
          </a:bodyPr>
          <a:p>
            <a:pPr defTabSz="914400">
              <a:lnSpc>
                <a:spcPct val="140000"/>
              </a:lnSpc>
              <a:tabLst>
                <a:tab pos="0" algn="l"/>
              </a:tabLst>
            </a:pPr>
            <a:r>
              <a:rPr lang="en-US" sz="1600" b="0" u="none" strike="noStrike">
                <a:solidFill>
                  <a:srgbClr val="FFFFFF"/>
                </a:solidFill>
                <a:effectLst/>
                <a:uFillTx/>
                <a:latin typeface="Inter"/>
                <a:ea typeface="Inter"/>
              </a:rPr>
              <a:t>These three clear the bar by a mile. Most schools barely clear it at all — if one on your list doesn't, walking away is a legitimate choice, not a failure.</a:t>
            </a:r>
            <a:endParaRPr lang="en-US" sz="1600" b="0" u="none" strike="noStrike">
              <a:solidFill>
                <a:srgbClr val="FFFFFF"/>
              </a:solidFill>
              <a:effectLst/>
              <a:uFillTx/>
              <a:latin typeface="Arial"/>
            </a:endParaRPr>
          </a:p>
        </p:txBody>
      </p:sp>
      <p:sp>
        <p:nvSpPr>
          <p:cNvPr id="47" name="Text 14"/>
          <p:cNvSpPr/>
          <p:nvPr/>
        </p:nvSpPr>
        <p:spPr>
          <a:xfrm>
            <a:off x="685800" y="6446520"/>
            <a:ext cx="108169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3A3A3A"/>
                </a:solidFill>
                <a:effectLst/>
                <a:uFillTx/>
                <a:latin typeface="JetBrains Mono"/>
                <a:ea typeface="JetBrains Mono"/>
              </a:rPr>
              <a:t>05 / 06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90909"/>
        </a:solidFill>
      </p:bgPr>
    </p:bg>
    <p:spTree>
      <p:nvGrpSpPr>
        <p:cNvPr id="1" name=""/>
        <p:cNvGrpSpPr/>
        <p:nvPr/>
      </p:nvGrpSpPr>
      <p:grpSpPr>
        <a:xfrm>
          <a:off x="0" y="0"/>
          <a:ext cx="0" cy="0"/>
          <a:chOff x="0" y="0"/>
          <a:chExt cx="0" cy="0"/>
        </a:xfrm>
      </p:grpSpPr>
      <p:sp>
        <p:nvSpPr>
          <p:cNvPr id="48" name="Text 0"/>
          <p:cNvSpPr/>
          <p:nvPr/>
        </p:nvSpPr>
        <p:spPr>
          <a:xfrm>
            <a:off x="685800" y="502920"/>
            <a:ext cx="108169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400" strike="noStrike">
                <a:solidFill>
                  <a:srgbClr val="CC2200"/>
                </a:solidFill>
                <a:effectLst/>
                <a:uFillTx/>
                <a:latin typeface="JetBrains Mono"/>
                <a:ea typeface="JetBrains Mono"/>
              </a:rPr>
              <a:t>DO THIS FOR YOUR OWN LIST</a:t>
            </a:r>
            <a:endParaRPr lang="en-US" sz="1200" b="0" u="none" strike="noStrike">
              <a:solidFill>
                <a:srgbClr val="FFFFFF"/>
              </a:solidFill>
              <a:effectLst/>
              <a:uFillTx/>
              <a:latin typeface="Arial"/>
            </a:endParaRPr>
          </a:p>
        </p:txBody>
      </p:sp>
      <p:sp>
        <p:nvSpPr>
          <p:cNvPr id="49" name="Text 1"/>
          <p:cNvSpPr/>
          <p:nvPr/>
        </p:nvSpPr>
        <p:spPr>
          <a:xfrm>
            <a:off x="685800" y="868680"/>
            <a:ext cx="10816920" cy="82260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2800" b="1" u="none" strike="noStrike">
                <a:solidFill>
                  <a:srgbClr val="FFFFFF"/>
                </a:solidFill>
                <a:effectLst/>
                <a:uFillTx/>
                <a:latin typeface="Inter"/>
                <a:ea typeface="Inter"/>
              </a:rPr>
              <a:t>Run the Same Math on Every School You're Considering</a:t>
            </a:r>
            <a:endParaRPr lang="en-US" sz="2800" b="0" u="none" strike="noStrike">
              <a:solidFill>
                <a:srgbClr val="FFFFFF"/>
              </a:solidFill>
              <a:effectLst/>
              <a:uFillTx/>
              <a:latin typeface="Arial"/>
            </a:endParaRPr>
          </a:p>
        </p:txBody>
      </p:sp>
      <p:sp>
        <p:nvSpPr>
          <p:cNvPr id="50" name="Shape 2"/>
          <p:cNvSpPr/>
          <p:nvPr/>
        </p:nvSpPr>
        <p:spPr>
          <a:xfrm>
            <a:off x="685800" y="2148840"/>
            <a:ext cx="822600" cy="822600"/>
          </a:xfrm>
          <a:prstGeom prst="roundRect">
            <a:avLst>
              <a:gd name="adj" fmla="val 13333"/>
            </a:avLst>
          </a:prstGeom>
          <a:solidFill>
            <a:srgbClr val="0E0E0E"/>
          </a:solidFill>
          <a:ln w="12700">
            <a:solidFill>
              <a:srgbClr val="1A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 name="Text 3"/>
          <p:cNvSpPr/>
          <p:nvPr/>
        </p:nvSpPr>
        <p:spPr>
          <a:xfrm>
            <a:off x="685800" y="2148840"/>
            <a:ext cx="82260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CC2200"/>
                </a:solidFill>
                <a:effectLst/>
                <a:uFillTx/>
                <a:latin typeface="JetBrains Mono"/>
                <a:ea typeface="JetBrains Mono"/>
              </a:rPr>
              <a:t>÷</a:t>
            </a:r>
            <a:endParaRPr lang="en-US" sz="3000" b="0" u="none" strike="noStrike">
              <a:solidFill>
                <a:srgbClr val="FFFFFF"/>
              </a:solidFill>
              <a:effectLst/>
              <a:uFillTx/>
              <a:latin typeface="Arial"/>
            </a:endParaRPr>
          </a:p>
        </p:txBody>
      </p:sp>
      <p:sp>
        <p:nvSpPr>
          <p:cNvPr id="52" name="Text 4"/>
          <p:cNvSpPr/>
          <p:nvPr/>
        </p:nvSpPr>
        <p:spPr>
          <a:xfrm>
            <a:off x="1737360" y="2130480"/>
            <a:ext cx="97653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Inter"/>
                <a:ea typeface="Inter"/>
              </a:rPr>
              <a:t>Debt-to-Premium Ratio</a:t>
            </a:r>
            <a:endParaRPr lang="en-US" sz="1800" b="0" u="none" strike="noStrike">
              <a:solidFill>
                <a:srgbClr val="FFFFFF"/>
              </a:solidFill>
              <a:effectLst/>
              <a:uFillTx/>
              <a:latin typeface="Arial"/>
            </a:endParaRPr>
          </a:p>
        </p:txBody>
      </p:sp>
      <p:sp>
        <p:nvSpPr>
          <p:cNvPr id="53" name="Text 5"/>
          <p:cNvSpPr/>
          <p:nvPr/>
        </p:nvSpPr>
        <p:spPr>
          <a:xfrm>
            <a:off x="1737360" y="2532960"/>
            <a:ext cx="9765360" cy="776880"/>
          </a:xfrm>
          <a:prstGeom prst="rect">
            <a:avLst/>
          </a:prstGeom>
          <a:noFill/>
          <a:ln w="0">
            <a:noFill/>
          </a:ln>
        </p:spPr>
        <p:style>
          <a:lnRef idx="0"/>
          <a:fillRef idx="0"/>
          <a:effectRef idx="0"/>
          <a:fontRef idx="minor"/>
        </p:style>
        <p:txBody>
          <a:bodyPr lIns="0" tIns="0" rIns="0" bIns="0" anchor="ctr">
            <a:noAutofit/>
          </a:bodyPr>
          <a:p>
            <a:pPr defTabSz="914400">
              <a:lnSpc>
                <a:spcPct val="135000"/>
              </a:lnSpc>
              <a:tabLst>
                <a:tab pos="0" algn="l"/>
              </a:tabLst>
            </a:pPr>
            <a:r>
              <a:rPr lang="en-US" sz="1400" b="0" u="none" strike="noStrike">
                <a:solidFill>
                  <a:srgbClr val="888888"/>
                </a:solidFill>
                <a:effectLst/>
                <a:uFillTx/>
                <a:latin typeface="Inter"/>
                <a:ea typeface="Inter"/>
              </a:rPr>
              <a:t>Median debt ÷ that state's college wage premium. Lower means less debt per dollar of earnings boost.</a:t>
            </a:r>
            <a:endParaRPr lang="en-US" sz="1400" b="0" u="none" strike="noStrike">
              <a:solidFill>
                <a:srgbClr val="FFFFFF"/>
              </a:solidFill>
              <a:effectLst/>
              <a:uFillTx/>
              <a:latin typeface="Arial"/>
            </a:endParaRPr>
          </a:p>
        </p:txBody>
      </p:sp>
      <p:sp>
        <p:nvSpPr>
          <p:cNvPr id="54" name="Shape 6"/>
          <p:cNvSpPr/>
          <p:nvPr/>
        </p:nvSpPr>
        <p:spPr>
          <a:xfrm>
            <a:off x="685800" y="3886200"/>
            <a:ext cx="822600" cy="822600"/>
          </a:xfrm>
          <a:prstGeom prst="roundRect">
            <a:avLst>
              <a:gd name="adj" fmla="val 13333"/>
            </a:avLst>
          </a:prstGeom>
          <a:solidFill>
            <a:srgbClr val="0E0E0E"/>
          </a:solidFill>
          <a:ln w="12700">
            <a:solidFill>
              <a:srgbClr val="1A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 name="Text 7"/>
          <p:cNvSpPr/>
          <p:nvPr/>
        </p:nvSpPr>
        <p:spPr>
          <a:xfrm>
            <a:off x="685800" y="3886200"/>
            <a:ext cx="82260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CC2200"/>
                </a:solidFill>
                <a:effectLst/>
                <a:uFillTx/>
                <a:latin typeface="JetBrains Mono"/>
                <a:ea typeface="JetBrains Mono"/>
              </a:rPr>
              <a:t>−</a:t>
            </a:r>
            <a:endParaRPr lang="en-US" sz="3000" b="0" u="none" strike="noStrike">
              <a:solidFill>
                <a:srgbClr val="FFFFFF"/>
              </a:solidFill>
              <a:effectLst/>
              <a:uFillTx/>
              <a:latin typeface="Arial"/>
            </a:endParaRPr>
          </a:p>
        </p:txBody>
      </p:sp>
      <p:sp>
        <p:nvSpPr>
          <p:cNvPr id="56" name="Text 8"/>
          <p:cNvSpPr/>
          <p:nvPr/>
        </p:nvSpPr>
        <p:spPr>
          <a:xfrm>
            <a:off x="1737360" y="3867840"/>
            <a:ext cx="97653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Inter"/>
                <a:ea typeface="Inter"/>
              </a:rPr>
              <a:t>Real Earnings vs. Baseline</a:t>
            </a:r>
            <a:endParaRPr lang="en-US" sz="1800" b="0" u="none" strike="noStrike">
              <a:solidFill>
                <a:srgbClr val="FFFFFF"/>
              </a:solidFill>
              <a:effectLst/>
              <a:uFillTx/>
              <a:latin typeface="Arial"/>
            </a:endParaRPr>
          </a:p>
        </p:txBody>
      </p:sp>
      <p:sp>
        <p:nvSpPr>
          <p:cNvPr id="57" name="Text 9"/>
          <p:cNvSpPr/>
          <p:nvPr/>
        </p:nvSpPr>
        <p:spPr>
          <a:xfrm>
            <a:off x="1737360" y="4270320"/>
            <a:ext cx="9765360" cy="776880"/>
          </a:xfrm>
          <a:prstGeom prst="rect">
            <a:avLst/>
          </a:prstGeom>
          <a:noFill/>
          <a:ln w="0">
            <a:noFill/>
          </a:ln>
        </p:spPr>
        <p:style>
          <a:lnRef idx="0"/>
          <a:fillRef idx="0"/>
          <a:effectRef idx="0"/>
          <a:fontRef idx="minor"/>
        </p:style>
        <p:txBody>
          <a:bodyPr lIns="0" tIns="0" rIns="0" bIns="0" anchor="ctr">
            <a:noAutofit/>
          </a:bodyPr>
          <a:p>
            <a:pPr defTabSz="914400">
              <a:lnSpc>
                <a:spcPct val="135000"/>
              </a:lnSpc>
              <a:tabLst>
                <a:tab pos="0" algn="l"/>
              </a:tabLst>
            </a:pPr>
            <a:r>
              <a:rPr lang="en-US" sz="1400" b="0" u="none" strike="noStrike">
                <a:solidFill>
                  <a:srgbClr val="888888"/>
                </a:solidFill>
                <a:effectLst/>
                <a:uFillTx/>
                <a:latin typeface="Inter"/>
                <a:ea typeface="Inter"/>
              </a:rPr>
              <a:t>A school's median earnings minus the state's average bachelor's-holder earnings. Higher means grads outperform the typical degree.</a:t>
            </a:r>
            <a:endParaRPr lang="en-US" sz="1400" b="0" u="none" strike="noStrike">
              <a:solidFill>
                <a:srgbClr val="FFFFFF"/>
              </a:solidFill>
              <a:effectLst/>
              <a:uFillTx/>
              <a:latin typeface="Arial"/>
            </a:endParaRPr>
          </a:p>
        </p:txBody>
      </p:sp>
      <p:sp>
        <p:nvSpPr>
          <p:cNvPr id="58" name="Text 10"/>
          <p:cNvSpPr/>
          <p:nvPr/>
        </p:nvSpPr>
        <p:spPr>
          <a:xfrm>
            <a:off x="685800" y="5760720"/>
            <a:ext cx="108169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Inter"/>
                <a:ea typeface="Inter"/>
              </a:rPr>
              <a:t>Pick the school with the best ratio — or walk away if none of them clear it.</a:t>
            </a:r>
            <a:endParaRPr lang="en-US" sz="1800" b="0" u="none" strike="noStrike">
              <a:solidFill>
                <a:srgbClr val="FFFFFF"/>
              </a:solidFill>
              <a:effectLst/>
              <a:uFillTx/>
              <a:latin typeface="Arial"/>
            </a:endParaRPr>
          </a:p>
        </p:txBody>
      </p:sp>
      <p:sp>
        <p:nvSpPr>
          <p:cNvPr id="59" name="Text 11"/>
          <p:cNvSpPr/>
          <p:nvPr/>
        </p:nvSpPr>
        <p:spPr>
          <a:xfrm>
            <a:off x="685800" y="6446520"/>
            <a:ext cx="108169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3A3A3A"/>
                </a:solidFill>
                <a:effectLst/>
                <a:uFillTx/>
                <a:latin typeface="JetBrains Mono"/>
                <a:ea typeface="JetBrains Mono"/>
              </a:rPr>
              <a:t>06 / 06</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LibreOffice/26.2.5.2$Linux_X86_64 LibreOffice_project/6d2b0d33fb0f5da53a12f98bed3e9973e56ff1f0</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2026-07-29T15:16:51Z</dcterms:created>
  <dc:creator>PptxGenJS</dc:creator>
  <dc:description/>
  <dc:language>en-US</dc:language>
  <cp:lastModifiedBy/>
  <dcterms:modified xsi:type="dcterms:W3CDTF">2026-07-29T09:21:22Z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On-screen Show (16:9)</vt:lpwstr>
  </property>
  <property fmtid="{D5CDD505-2E9C-101B-9397-08002B2CF9AE}" pid="4" name="Slides">
    <vt:i4>6</vt:i4>
  </property>
</Properties>
</file>